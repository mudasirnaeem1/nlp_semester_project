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34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886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50292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NLP · HEALTHCARE · AI RESEARCH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98755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Medical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457200" y="162763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Correction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457200" y="23957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Context-Sensitive NLP for Medication Names in Clinical Text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907792"/>
            <a:ext cx="41148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035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456432"/>
            <a:ext cx="4754880" cy="402336"/>
          </a:xfrm>
          <a:prstGeom prst="roundRect">
            <a:avLst>
              <a:gd name="adj" fmla="val 18182"/>
            </a:avLst>
          </a:prstGeom>
          <a:solidFill>
            <a:srgbClr val="0D24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45643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</a:rPr>
              <a:t>📄  Inspired by -&gt; Kim, Weiss &amp; Ravikumar (2022) - PMLR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426191" y="40187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github.com/MudasirNaeem1/Domain-Specific-Medical-Spell-Correction</a:t>
            </a:r>
            <a:endParaRPr lang="en-US" sz="9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4155"/>
                </a:solidFill>
              </a:rPr>
              <a:t>01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522A841-4C26-43F7-99CA-670996BF1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284" y="1117035"/>
            <a:ext cx="3168396" cy="31683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4155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Clinical Spell Correction Fails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64008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783080"/>
            <a:ext cx="502920" cy="502920"/>
          </a:xfrm>
          <a:prstGeom prst="ellipse">
            <a:avLst/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82880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6002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</a:rPr>
              <a:t>Noisy Clinical Text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97280" y="192024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Abbreviations, shorthand &amp; frequent typos are inherent in EHRs and clinical notes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14630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463040"/>
            <a:ext cx="64008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28032" y="1783080"/>
            <a:ext cx="502920" cy="502920"/>
          </a:xfrm>
          <a:prstGeom prst="ellipse">
            <a:avLst/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82880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40680" y="16002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</a:rPr>
              <a:t>Drug Name Complexity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440680" y="192024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Medication names are long, rare, and domain-specific - far outside general vocabulary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0040" y="301752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3017520"/>
            <a:ext cx="64008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84632" y="3337560"/>
            <a:ext cx="502920" cy="502920"/>
          </a:xfrm>
          <a:prstGeom prst="ellipse">
            <a:avLst/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38328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97280" y="31546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</a:rPr>
              <a:t>High Stakes Errors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097280" y="347472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Incorrect drug corrections can cascade into dangerous downstream healthcare decisions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663440" y="301752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63440" y="3017520"/>
            <a:ext cx="64008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828032" y="3337560"/>
            <a:ext cx="502920" cy="502920"/>
          </a:xfrm>
          <a:prstGeom prst="ellipse">
            <a:avLst/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383280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40680" y="31546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</a:rPr>
              <a:t>Resource Constraints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440680" y="347472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Hospital systems need lightweight, low-resource models - not billion-parameter LLMs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84048" y="4526280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20040" y="4599297"/>
            <a:ext cx="8503920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2400E"/>
                </a:solidFill>
              </a:rPr>
              <a:t>⚠️  General NLP spell checkers achieve &lt; 40% accuracy on unseen medication names - making domain-specific solutions critical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444"/>
          </a:solidFill>
          <a:ln w="12700">
            <a:solidFill>
              <a:srgbClr val="0D2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</a:rPr>
              <a:t>RESEARCH FOUNDATION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4155"/>
                </a:solidFill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Analysis: CIM Framework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EAD4"/>
                </a:solidFill>
              </a:rPr>
              <a:t>Kim, Weiss &amp; Ravikumar (2022)  ·  PMLR  ·  Context-Sensitive Spelling Correction of Clinical Text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4114800" cy="3246120"/>
          </a:xfrm>
          <a:prstGeom prst="rect">
            <a:avLst/>
          </a:prstGeom>
          <a:solidFill>
            <a:srgbClr val="0D2444"/>
          </a:solidFill>
          <a:ln w="12700">
            <a:solidFill>
              <a:srgbClr val="152B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Core Insight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7627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213055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Separates context modeling (language model) from noise modeling (corruption process)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9806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275234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Uses Conditional Independence to combine both signals without joint training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1985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672" y="337413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Avoids expensive fine-tuning - works with off-the-shelf clinical LMs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41648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4672" y="399592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Achieves strong accuracy on general clinical terms via probability factorization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709160" y="1664208"/>
            <a:ext cx="4114800" cy="3246120"/>
          </a:xfrm>
          <a:prstGeom prst="rect">
            <a:avLst/>
          </a:prstGeom>
          <a:solidFill>
            <a:srgbClr val="0D2444"/>
          </a:solidFill>
          <a:ln w="12700">
            <a:solidFill>
              <a:srgbClr val="152B5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846320" y="17830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Gaps We Identified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846320" y="221284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138928" y="216712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Medication names are underemphasized in original evaluation benchmarks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846320" y="283464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138928" y="27889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Severely misspelled drug terms (edit distance &gt; 3) cause significant accuracy drop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846320" y="345643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138928" y="341071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Computationally heavy models impractical for real-time hospital deployment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846320" y="4078224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138928" y="4032504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No domain-constrained candidate generation - risk of over-correction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</a:rPr>
              <a:t>OUR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4155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Medication Correction Pipeline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49961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3619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198424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Tokenize &amp; Filter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230428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Segment clinical sentences; remove non-alphabetic tokens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1389888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55848" y="149961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55848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53619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83280" y="198424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Medication Lexicon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83280" y="230428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Curated drug dictionary prevents non-medical corrections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1389888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27648" y="149961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327648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1536192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55080" y="198424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Candidate Generation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355080" y="230428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BK-Tree + edit distance + phonetic similarity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74320" y="3081528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84048" y="319125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84048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227832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11480" y="367588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Corruption Modeling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11480" y="39959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Estimates real-world clinical typing error patterns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246120" y="3081528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355848" y="319125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355848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3227832"/>
            <a:ext cx="347472" cy="34747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383280" y="367588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Contextual Scoring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3383280" y="39959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BioClinicalBERT scores candidates via sentence context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6217920" y="3081528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327648" y="319125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327648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3227832"/>
            <a:ext cx="347472" cy="34747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355080" y="367588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Final Selection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6355080" y="39959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Combines corruption P + contextual likelihood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444"/>
          </a:solidFill>
          <a:ln w="12700">
            <a:solidFill>
              <a:srgbClr val="0D2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</a:rPr>
              <a:t>TECHNICAL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4155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Components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14800" cy="1783080"/>
          </a:xfrm>
          <a:prstGeom prst="rect">
            <a:avLst/>
          </a:prstGeom>
          <a:solidFill>
            <a:srgbClr val="0D2444"/>
          </a:solidFill>
          <a:ln w="12700">
            <a:solidFill>
              <a:srgbClr val="152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</a:rPr>
              <a:t>🔍  Robust Candidate Generation</a:t>
            </a:r>
            <a:endParaRPr lang="en-US" sz="12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83664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18470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Edit-distance matching for surface similarity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03704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21671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BK-Tree indexing for sub-linear approximate search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23744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9808" y="24871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Metaphone phonetic encoding for pronunciation-based errors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4378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9808" y="28072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Domain constraint: candidates filtered to medication lexicon only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4709160" y="1371600"/>
            <a:ext cx="4114800" cy="1783080"/>
          </a:xfrm>
          <a:prstGeom prst="rect">
            <a:avLst/>
          </a:prstGeom>
          <a:solidFill>
            <a:srgbClr val="0D2444"/>
          </a:solidFill>
          <a:ln w="12700">
            <a:solidFill>
              <a:srgbClr val="152B50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846320" y="14813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</a:rPr>
              <a:t>🧠  CIM Scoring Formula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4846320" y="1874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</a:rPr>
              <a:t>P(candidate | context) ∝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846320" y="2176272"/>
            <a:ext cx="3749040" cy="640080"/>
          </a:xfrm>
          <a:prstGeom prst="rect">
            <a:avLst/>
          </a:prstGeom>
          <a:solidFill>
            <a:srgbClr val="152B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846320" y="21762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EAD4"/>
                </a:solidFill>
              </a:rPr>
              <a:t>P_noise(error→correct) × P_LM(correct | context)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846320" y="2880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Noise model × Language model - decoupled, no joint training required</a:t>
            </a:r>
            <a:endParaRPr lang="en-US" sz="9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hape 16"/>
          <p:cNvSpPr/>
          <p:nvPr/>
        </p:nvSpPr>
        <p:spPr>
          <a:xfrm>
            <a:off x="320040" y="3310128"/>
            <a:ext cx="8503920" cy="1572768"/>
          </a:xfrm>
          <a:prstGeom prst="rect">
            <a:avLst/>
          </a:prstGeom>
          <a:solidFill>
            <a:srgbClr val="0D2444"/>
          </a:solidFill>
          <a:ln w="12700">
            <a:solidFill>
              <a:srgbClr val="152B5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341985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</a:rPr>
              <a:t>🏥  </a:t>
            </a:r>
            <a:r>
              <a:rPr lang="en-US" sz="1250" b="1" dirty="0" err="1">
                <a:solidFill>
                  <a:srgbClr val="14B8A6"/>
                </a:solidFill>
              </a:rPr>
              <a:t>BioClinicalBERT</a:t>
            </a:r>
            <a:r>
              <a:rPr lang="en-US" sz="1250" b="1" dirty="0">
                <a:solidFill>
                  <a:srgbClr val="14B8A6"/>
                </a:solidFill>
              </a:rPr>
              <a:t> - Contextual Backbone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02920" y="3767328"/>
            <a:ext cx="192024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02920" y="38039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Pre-trained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02920" y="40965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On MIMIC-III clinical notes — understands medical language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2624328" y="3767328"/>
            <a:ext cx="192024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624328" y="38039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Masked LM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2624328" y="40965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Scores how natural a candidate fits the surrounding clinical sentence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745736" y="3767328"/>
            <a:ext cx="192024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745736" y="38039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No fine-tuning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745736" y="40965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Zero-shot deployment - plug and play on any clinical corpus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6867144" y="3767328"/>
            <a:ext cx="192024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867144" y="38039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Integration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867144" y="40965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Probability piped directly into CIM final scoring module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</a:rPr>
              <a:t>WHAT WE BUILT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4155"/>
                </a:solidFill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Key Contributions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25196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89888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536192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1481328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Medication-Focused Framework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87552" y="1828800"/>
            <a:ext cx="3401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First framework to specifically target medication name spell correction - filling a critical gap in clinical NLP literature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00600" y="1389888"/>
            <a:ext cx="4251960" cy="111556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1389888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536192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13832" y="1481328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Extended CIM Architecture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513832" y="1828800"/>
            <a:ext cx="3401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Enhanced the base CIM with improved candidate generation, domain constraints, and practical deployment considerations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74320" y="2651760"/>
            <a:ext cx="4251960" cy="11155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2651760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798064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7552" y="2743200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BK-Tree + Phonetic Hybrid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87552" y="3090672"/>
            <a:ext cx="3401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Combined BK-Tree indexing with Metaphone encoding for efficient and robust candidate retrieval under severe corruption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800600" y="2651760"/>
            <a:ext cx="4251960" cy="1115568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00600" y="2651760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2798064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13832" y="2743200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Low-Resource Design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513832" y="3090672"/>
            <a:ext cx="3401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Zero supervised training required — works with curated lexicon + pre-trained BioClinicalBERT out of the box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274320" y="3913632"/>
            <a:ext cx="4251960" cy="111556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74320" y="3913632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4059936"/>
            <a:ext cx="420624" cy="4206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87552" y="4005072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Strong Evaluation Results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987552" y="4352544"/>
            <a:ext cx="3401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Demonstrated reliable token-level accuracy even on heavily corrupted drug names without domain-specific training data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800600" y="3913632"/>
            <a:ext cx="4251960" cy="1115568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800600" y="3913632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5192" y="4059936"/>
            <a:ext cx="420624" cy="42062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513832" y="4005072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Real-World Deployment Path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513832" y="4352544"/>
            <a:ext cx="3401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Lightweight architecture designed for hospital-scale integration with minimal infrastructure overhead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444"/>
          </a:solidFill>
          <a:ln w="12700">
            <a:solidFill>
              <a:srgbClr val="0D2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</a:rPr>
              <a:t>EVALUATION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4155"/>
                </a:solidFill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97480" cy="1536192"/>
          </a:xfrm>
          <a:prstGeom prst="rect">
            <a:avLst/>
          </a:prstGeom>
          <a:solidFill>
            <a:srgbClr val="0D244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50876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Token-Level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20574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10312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Accuracy Metric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Primary focus on correctly identifying &amp; fixing individual medication tokens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697480" cy="1536192"/>
          </a:xfrm>
          <a:prstGeom prst="rect">
            <a:avLst/>
          </a:prstGeom>
          <a:solidFill>
            <a:srgbClr val="0D244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50876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Zero-Shot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566160" y="2057400"/>
            <a:ext cx="20574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10312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No Training Needed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423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No supervised data required - pure lexicon + pre-trained models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1417320"/>
            <a:ext cx="2697480" cy="1536192"/>
          </a:xfrm>
          <a:prstGeom prst="rect">
            <a:avLst/>
          </a:prstGeom>
          <a:solidFill>
            <a:srgbClr val="0D244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150876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Severe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92240" y="2057400"/>
            <a:ext cx="20574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210312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Corruption Handled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2423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Handles heavily corrupted names (edit distance ≥ 3) that break general checkers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127248"/>
            <a:ext cx="8503920" cy="1783080"/>
          </a:xfrm>
          <a:prstGeom prst="rect">
            <a:avLst/>
          </a:prstGeom>
          <a:solidFill>
            <a:srgbClr val="0D2444"/>
          </a:solidFill>
          <a:ln w="12700">
            <a:solidFill>
              <a:srgbClr val="152B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461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</a:rPr>
              <a:t>Evaluation Highlights</a:t>
            </a:r>
            <a:endParaRPr lang="en-US" sz="12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75888"/>
            <a:ext cx="201168" cy="20116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77240" y="3639312"/>
            <a:ext cx="7909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Tested against both known and unseen medication names with varying corruption levels</a:t>
            </a:r>
            <a:endParaRPr lang="en-US" sz="10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68496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77240" y="3931920"/>
            <a:ext cx="7909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Outperforms standard edit-distance baseline on drug name correction tasks</a:t>
            </a:r>
            <a:endParaRPr lang="en-US" sz="10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61104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77240" y="4224528"/>
            <a:ext cx="7909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BK-Tree retrieval ensures sub-linear candidate search - scales efficiently with large lexicons</a:t>
            </a:r>
            <a:endParaRPr lang="en-US" sz="10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53712"/>
            <a:ext cx="201168" cy="2011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77240" y="4517136"/>
            <a:ext cx="7909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Phonetic component recovers brands with pronunciation-based misspellings that pure edit-distance misses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</a:rPr>
              <a:t>FUTURE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4155"/>
                </a:solidFill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08760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148132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18470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</a:rPr>
              <a:t>Ontology Integration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223113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1762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Integrate RxNorm &amp; UMLS medical ontologies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52374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Expand lexicon to 100,000+ drug entities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81635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27614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Add drug-class semantic constraints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54880" y="1389888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92040" y="1508760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15087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481328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92040" y="18470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</a:rPr>
              <a:t>Typo Pattern Learning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937760" y="223113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21762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Mine real clinical logs for typing error distributions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937760" y="25237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120640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Train lightweight noise model on hospital data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937760" y="281635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120640" y="27614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Adaptive correction per department/specialty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274320" y="3200400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11480" y="331927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11480" y="33192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9888" y="3291840"/>
            <a:ext cx="329184" cy="32918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11480" y="3657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</a:rPr>
              <a:t>Semantic Constraints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457200" y="404164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40080" y="39867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Semantic-type filtering to prevent over-correction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57200" y="4334256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40080" y="42793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Drug interaction awareness in candidate ranking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457200" y="462686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40080" y="4572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Context-aware disambiguation for look-alike names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4754880" y="3200400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4892040" y="331927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4892040" y="33192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3291840"/>
            <a:ext cx="329184" cy="329184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4892040" y="3657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</a:rPr>
              <a:t>Production Deployment</a:t>
            </a:r>
            <a:endParaRPr lang="en-US" sz="1250" dirty="0"/>
          </a:p>
        </p:txBody>
      </p:sp>
      <p:sp>
        <p:nvSpPr>
          <p:cNvPr id="44" name="Shape 38"/>
          <p:cNvSpPr/>
          <p:nvPr/>
        </p:nvSpPr>
        <p:spPr>
          <a:xfrm>
            <a:off x="4937760" y="4041648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120640" y="39867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Model compression via distillation or pruning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4937760" y="4334256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5120640" y="42793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Real-time API for EHR integration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4937760" y="4626864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5120640" y="4572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Benchmark on i2b2 and MIMIC-IV datasets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444"/>
          </a:solidFill>
          <a:ln w="12700">
            <a:solidFill>
              <a:srgbClr val="0D2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</a:rPr>
              <a:t>IMPACT &amp; SIGNIFICANCE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4155"/>
                </a:solidFill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804672"/>
          </a:xfrm>
          <a:prstGeom prst="rect">
            <a:avLst/>
          </a:prstGeom>
          <a:solidFill>
            <a:srgbClr val="0D2444"/>
          </a:solidFill>
          <a:ln w="12700">
            <a:solidFill>
              <a:srgbClr val="152B5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6184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508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Patient Safety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81965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Correct drug names in clinical notes prevent dangerous dosage &amp; prescribing errors downstream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" y="2331720"/>
            <a:ext cx="4160520" cy="804672"/>
          </a:xfrm>
          <a:prstGeom prst="rect">
            <a:avLst/>
          </a:prstGeom>
          <a:solidFill>
            <a:srgbClr val="0D2444"/>
          </a:solidFill>
          <a:ln w="12700">
            <a:solidFill>
              <a:srgbClr val="152B5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5328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423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NLP Pipeline Quality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60120" y="273405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Upstream correction improves NER, ICD coding, and clinical decision support accuracy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20040" y="3246120"/>
            <a:ext cx="4160520" cy="804672"/>
          </a:xfrm>
          <a:prstGeom prst="rect">
            <a:avLst/>
          </a:prstGeom>
          <a:solidFill>
            <a:srgbClr val="0D2444"/>
          </a:solidFill>
          <a:ln w="12700">
            <a:solidFill>
              <a:srgbClr val="152B5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44728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3337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Healthcare AI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960120" y="364845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Enables more reliable AI applications in EHRs where data quality is notoriously poor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20040" y="4160520"/>
            <a:ext cx="4160520" cy="804672"/>
          </a:xfrm>
          <a:prstGeom prst="rect">
            <a:avLst/>
          </a:prstGeom>
          <a:solidFill>
            <a:srgbClr val="0D2444"/>
          </a:solidFill>
          <a:ln w="12700">
            <a:solidFill>
              <a:srgbClr val="152B50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36168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4251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Low-Resource NLP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960120" y="456285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Provides a reproducible, accessible framework for under-resourced clinical settings globally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709160" y="1417320"/>
            <a:ext cx="4114800" cy="3547872"/>
          </a:xfrm>
          <a:prstGeom prst="rect">
            <a:avLst/>
          </a:prstGeom>
          <a:solidFill>
            <a:srgbClr val="0D24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892040" y="1554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Project Summary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754880" y="1965960"/>
            <a:ext cx="397764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846320" y="196596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Problem: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053328" y="1965960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Medication spell correction in noisy clinical NLP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754880" y="2468880"/>
            <a:ext cx="3977640" cy="420624"/>
          </a:xfrm>
          <a:prstGeom prst="rect">
            <a:avLst/>
          </a:prstGeom>
          <a:solidFill>
            <a:srgbClr val="0D2444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846320" y="246888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Foundation: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053328" y="2468880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Extended CIM paper (Kim et al. 2022, PMLR)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754880" y="2971800"/>
            <a:ext cx="397764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846320" y="297180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Innovation: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6053328" y="2971800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Drug-focused lexicon + BK-Tree + phonetic + BERT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754880" y="3474720"/>
            <a:ext cx="3977640" cy="420624"/>
          </a:xfrm>
          <a:prstGeom prst="rect">
            <a:avLst/>
          </a:prstGeom>
          <a:solidFill>
            <a:srgbClr val="0D2444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846320" y="347472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Approach: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053328" y="3474720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Zero-shot, no supervised training required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754880" y="3977640"/>
            <a:ext cx="397764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846320" y="39776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Outcome: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6053328" y="3977640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Robust token-level correction under heavy corruption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4754880" y="4480560"/>
            <a:ext cx="3977640" cy="420624"/>
          </a:xfrm>
          <a:prstGeom prst="rect">
            <a:avLst/>
          </a:prstGeom>
          <a:solidFill>
            <a:srgbClr val="0D2444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846320" y="448056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Next Steps: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6053328" y="4480560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RxNorm, UMLS, distillation, EHR API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444"/>
          </a:solidFill>
          <a:ln w="12700">
            <a:solidFill>
              <a:srgbClr val="0D24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-497674" y="1518607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Medical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-471268" y="209467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</a:rPr>
              <a:t>Spell Correction using Context-Sensitive NLP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814730" y="2706624"/>
            <a:ext cx="3657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6609" y="28620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</a:rPr>
              <a:t>Bridging the gap between general NLP and life-critical healthcare applications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4572" y="3329822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0D24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8302" y="332841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</a:rPr>
              <a:t>🔗  GitHub Repository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41410" y="3328416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0D24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41410" y="334002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</a:rPr>
              <a:t>📄  Research Paper (PMLR)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-471268" y="4032505"/>
            <a:ext cx="8229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github.com/MudasirNaeem1/Domain-Specific-Medical-Spell-Correction-using-Context-Sensitive-NLP</a:t>
            </a:r>
          </a:p>
        </p:txBody>
      </p:sp>
      <p:sp>
        <p:nvSpPr>
          <p:cNvPr id="15" name="Text 12"/>
          <p:cNvSpPr/>
          <p:nvPr/>
        </p:nvSpPr>
        <p:spPr>
          <a:xfrm>
            <a:off x="-471268" y="45125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NLP  ·  Healthcare AI  ·  Clinical Text  ·  BioClinicalBERT  ·  BK-Tree  ·  Spell Correction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5E8A84E-FA15-438E-8791-E9816AB73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589" y="76732"/>
            <a:ext cx="2953802" cy="2953802"/>
          </a:xfrm>
          <a:prstGeom prst="rect">
            <a:avLst/>
          </a:prstGeom>
        </p:spPr>
      </p:pic>
      <p:sp>
        <p:nvSpPr>
          <p:cNvPr id="21" name="Text 1">
            <a:extLst>
              <a:ext uri="{FF2B5EF4-FFF2-40B4-BE49-F238E27FC236}">
                <a16:creationId xmlns:a16="http://schemas.microsoft.com/office/drawing/2014/main" id="{B0B3BD64-24AD-4115-A86E-F4BCF0E6FF7B}"/>
              </a:ext>
            </a:extLst>
          </p:cNvPr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</a:rPr>
              <a:t>COLLABORATORS</a:t>
            </a:r>
            <a:endParaRPr lang="en-US" sz="110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E9B41CFC-53D8-4FE2-A404-9EA515889898}"/>
              </a:ext>
            </a:extLst>
          </p:cNvPr>
          <p:cNvSpPr/>
          <p:nvPr/>
        </p:nvSpPr>
        <p:spPr>
          <a:xfrm>
            <a:off x="418721" y="1004773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972C40FD-D884-42DE-A10A-17ACE5EAF001}"/>
              </a:ext>
            </a:extLst>
          </p:cNvPr>
          <p:cNvSpPr/>
          <p:nvPr/>
        </p:nvSpPr>
        <p:spPr>
          <a:xfrm>
            <a:off x="3241155" y="1001972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AB03BFB5-5386-47DC-A9D9-97DDAA122618}"/>
              </a:ext>
            </a:extLst>
          </p:cNvPr>
          <p:cNvSpPr/>
          <p:nvPr/>
        </p:nvSpPr>
        <p:spPr>
          <a:xfrm>
            <a:off x="-2568804" y="852162"/>
            <a:ext cx="8229600" cy="627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Nihal Ali</a:t>
            </a:r>
            <a:endParaRPr lang="en-US" sz="1400" dirty="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00501FF5-CC8F-4CFF-8154-FB131489C428}"/>
              </a:ext>
            </a:extLst>
          </p:cNvPr>
          <p:cNvSpPr/>
          <p:nvPr/>
        </p:nvSpPr>
        <p:spPr>
          <a:xfrm>
            <a:off x="315075" y="850417"/>
            <a:ext cx="8229600" cy="627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Basim Baqai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924</Words>
  <Application>Microsoft Office PowerPoint</Application>
  <PresentationFormat>On-screen Show (16:9)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Administrator</cp:lastModifiedBy>
  <cp:revision>7</cp:revision>
  <dcterms:created xsi:type="dcterms:W3CDTF">2026-04-22T06:03:04Z</dcterms:created>
  <dcterms:modified xsi:type="dcterms:W3CDTF">2026-04-22T06:40:31Z</dcterms:modified>
</cp:coreProperties>
</file>